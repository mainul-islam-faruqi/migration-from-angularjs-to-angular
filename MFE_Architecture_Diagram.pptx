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Micro-Frontend (MFE)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Visual Representation of Angular-in-AngularJS Migration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914400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Browser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657600" cy="2286000"/>
          </a:xfrm>
          <a:prstGeom prst="roundRect">
            <a:avLst/>
          </a:prstGeom>
          <a:solidFill>
            <a:srgbClr val="FF6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AngularJS Host Application</a:t>
            </a:r>
          </a:p>
          <a:p>
            <a:r>
              <a:t>(Legacy Container)</a:t>
            </a:r>
          </a:p>
          <a:p/>
          <a:p>
            <a:r>
              <a:t>- Navigation</a:t>
            </a:r>
          </a:p>
          <a:p>
            <a:r>
              <a:t>- Header/Footer</a:t>
            </a:r>
          </a:p>
          <a:p>
            <a:r>
              <a:t>- DOM Containers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286000"/>
            <a:ext cx="3657600" cy="1371600"/>
          </a:xfrm>
          <a:prstGeom prst="roundRect">
            <a:avLst/>
          </a:prstGeom>
          <a:solidFill>
            <a:srgbClr val="FFE0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Integration Layer</a:t>
            </a:r>
          </a:p>
          <a:p/>
          <a:p>
            <a:r>
              <a:t>- Single-SPA (Orchestrator)</a:t>
            </a:r>
          </a:p>
          <a:p>
            <a:r>
              <a:t>- SystemJS (Module Loader)</a:t>
            </a:r>
          </a:p>
          <a:p>
            <a:r>
              <a:t>- Import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657600"/>
            <a:ext cx="3657600" cy="914400"/>
          </a:xfrm>
          <a:prstGeom prst="roundRect">
            <a:avLst/>
          </a:prstGeom>
          <a:solidFill>
            <a:srgbClr val="4ECD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Angular Micro-Frontends</a:t>
            </a:r>
          </a:p>
          <a:p>
            <a:r>
              <a:t>- Angular MFE (Port 4200)</a:t>
            </a:r>
          </a:p>
          <a:p>
            <a:r>
              <a:t>- EUI Desktop MFE (Port 4300)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7772400" cy="7315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Development Servers: Webpack Dev Server :4200 (Angular MFE), :4300 (EUI MFE)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743200.0" y="2286000"/>
            <a:ext cx="4114800.0" cy="1371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.0" y="3657600"/>
            <a:ext cx="0.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Flow: Request to Render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" cy="54864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1097280" cy="54864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1097280" cy="54864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AngularJS</a:t>
            </a:r>
          </a:p>
          <a:p>
            <a:r>
              <a:t>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1097280" cy="54864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Single-SPA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1097280" cy="54864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SystemJS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371600"/>
            <a:ext cx="1097280" cy="548640"/>
          </a:xfrm>
          <a:prstGeom prst="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Angular</a:t>
            </a:r>
          </a:p>
          <a:p>
            <a:r>
              <a:t>MFE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2011680"/>
            <a:ext cx="685800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88720" y="1874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Navigate to /angular-phone-list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2560320"/>
            <a:ext cx="685800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88720" y="2423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Route change detected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40" y="3108960"/>
            <a:ext cx="685800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88720" y="2971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Check activeWhen()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" y="3657600"/>
            <a:ext cx="685800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88720" y="3520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Import 'angular-mfe'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5840" y="4206240"/>
            <a:ext cx="685800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88720" y="4069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Load bundle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" y="4754880"/>
            <a:ext cx="685800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88720" y="4617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bootstrap()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" y="5303520"/>
            <a:ext cx="685800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88720" y="5166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mount()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" y="5852160"/>
            <a:ext cx="685800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88720" y="5715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Render component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Lifecycle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1371600" cy="7315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Not Registered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371600"/>
            <a:ext cx="1371600" cy="731520"/>
          </a:xfrm>
          <a:prstGeom prst="roundRect">
            <a:avLst/>
          </a:prstGeom>
          <a:solidFill>
            <a:srgbClr val="FF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Loading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71600"/>
            <a:ext cx="1371600" cy="731520"/>
          </a:xfrm>
          <a:prstGeom prst="round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Bootstrapped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1371600" cy="731520"/>
          </a:xfrm>
          <a:prstGeom prst="roundRect">
            <a:avLst/>
          </a:prstGeom>
          <a:solidFill>
            <a:srgbClr val="C8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Mounted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743200"/>
            <a:ext cx="1371600" cy="731520"/>
          </a:xfrm>
          <a:prstGeom prst="roundRect">
            <a:avLst/>
          </a:prstGeom>
          <a:solidFill>
            <a:srgbClr val="96FF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743200"/>
            <a:ext cx="1371600" cy="731520"/>
          </a:xfrm>
          <a:prstGeom prst="roundRect">
            <a:avLst/>
          </a:prstGeom>
          <a:solidFill>
            <a:srgbClr val="FF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Unmounting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514600.0" y="1371600"/>
            <a:ext cx="1828800.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343400.0" y="1371600"/>
            <a:ext cx="1828800.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172200.0" y="1371600"/>
            <a:ext cx="1828800.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172200.0" y="2103120"/>
            <a:ext cx="1828800.0" cy="6400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343400.0" y="2743200"/>
            <a:ext cx="1828800.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343400.0" y="1371600"/>
            <a:ext cx="1828800.0" cy="21031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Route-Based Activation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828800" cy="731520"/>
          </a:xfrm>
          <a:prstGeom prst="roundRect">
            <a:avLst/>
          </a:prstGeom>
          <a:solidFill>
            <a:srgbClr val="FF6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/phones</a:t>
            </a:r>
          </a:p>
          <a:p>
            <a:r>
              <a:t>/phones/:id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1828800" cy="731520"/>
          </a:xfrm>
          <a:prstGeom prst="roundRect">
            <a:avLst/>
          </a:prstGeom>
          <a:solidFill>
            <a:srgbClr val="4ECD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/angular-page</a:t>
            </a:r>
          </a:p>
          <a:p>
            <a:r>
              <a:t>/angular-phone-list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1828800" cy="731520"/>
          </a:xfrm>
          <a:prstGeom prst="roundRect">
            <a:avLst/>
          </a:prstGeom>
          <a:solidFill>
            <a:srgbClr val="4ECD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/eui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1828800" cy="731520"/>
          </a:xfrm>
          <a:prstGeom prst="roundRect">
            <a:avLst/>
          </a:prstGeom>
          <a:solidFill>
            <a:srgbClr val="93C5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/dashboard</a:t>
            </a:r>
          </a:p>
          <a:p>
            <a:r>
              <a:t>/reports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828800" cy="914400"/>
          </a:xfrm>
          <a:prstGeom prst="roundRect">
            <a:avLst/>
          </a:prstGeom>
          <a:solidFill>
            <a:srgbClr val="FF6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AngularJS Routes</a:t>
            </a:r>
          </a:p>
          <a:p>
            <a:r>
              <a:t>view-container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200400"/>
            <a:ext cx="1828800" cy="914400"/>
          </a:xfrm>
          <a:prstGeom prst="roundRect">
            <a:avLst/>
          </a:prstGeom>
          <a:solidFill>
            <a:srgbClr val="4ECD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Angular MFE</a:t>
            </a:r>
          </a:p>
          <a:p>
            <a:r>
              <a:t>angular-mfe-container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200400"/>
            <a:ext cx="1828800" cy="914400"/>
          </a:xfrm>
          <a:prstGeom prst="roundRect">
            <a:avLst/>
          </a:prstGeom>
          <a:solidFill>
            <a:srgbClr val="4ECD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EUI Desktop MFE</a:t>
            </a:r>
          </a:p>
          <a:p>
            <a:r>
              <a:t>eui-mfe-container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200400"/>
            <a:ext cx="1828800" cy="914400"/>
          </a:xfrm>
          <a:prstGeom prst="roundRect">
            <a:avLst/>
          </a:prstGeom>
          <a:solidFill>
            <a:srgbClr val="93C5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AngularJS + Embedded</a:t>
            </a:r>
          </a:p>
          <a:p>
            <a:r>
              <a:t>view-container +</a:t>
            </a:r>
          </a:p>
          <a:p>
            <a:r>
              <a:t>embedded-container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.0" y="2103120"/>
            <a:ext cx="0.0" cy="10972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0.0" y="2103120"/>
            <a:ext cx="0.0" cy="10972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.0" y="2103120"/>
            <a:ext cx="0.0" cy="10972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.0" y="2103120"/>
            <a:ext cx="0.0" cy="10972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Cross-Framework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2286000"/>
          </a:xfrm>
          <a:prstGeom prst="roundRect">
            <a:avLst/>
          </a:prstGeom>
          <a:solidFill>
            <a:srgbClr val="FF6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AngularJS Host</a:t>
            </a:r>
          </a:p>
          <a:p/>
          <a:p>
            <a:r>
              <a:t>- Components</a:t>
            </a:r>
          </a:p>
          <a:p>
            <a:r>
              <a:t>- $rootScope</a:t>
            </a:r>
          </a:p>
          <a:p>
            <a:r>
              <a:t>- $location</a:t>
            </a:r>
          </a:p>
          <a:p>
            <a:r>
              <a:t>- Event Listeners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57400"/>
            <a:ext cx="2286000" cy="914400"/>
          </a:xfrm>
          <a:prstGeom prst="roundRect">
            <a:avLst/>
          </a:prstGeom>
          <a:solidFill>
            <a:srgbClr val="FFE0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Communication Channel</a:t>
            </a:r>
          </a:p>
          <a:p/>
          <a:p>
            <a:r>
              <a:t>Custom DOM Events</a:t>
            </a:r>
          </a:p>
          <a:p>
            <a:r>
              <a:t>URL Hash</a:t>
            </a:r>
          </a:p>
          <a:p>
            <a:r>
              <a:t>Shared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286000" cy="2286000"/>
          </a:xfrm>
          <a:prstGeom prst="roundRect">
            <a:avLst/>
          </a:prstGeom>
          <a:solidFill>
            <a:srgbClr val="4ECD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Angular MFEs</a:t>
            </a:r>
          </a:p>
          <a:p/>
          <a:p>
            <a:r>
              <a:t>- Components</a:t>
            </a:r>
          </a:p>
          <a:p>
            <a:r>
              <a:t>- Services</a:t>
            </a:r>
          </a:p>
          <a:p>
            <a:r>
              <a:t>- Event Emitter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572000.0" y="2057400"/>
            <a:ext cx="2514600.0" cy="1600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1600200.0" y="1371600"/>
            <a:ext cx="2971800.0" cy="1600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Single-SPA Application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371600" cy="731520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Browser Loads</a:t>
            </a:r>
          </a:p>
          <a:p>
            <a:r>
              <a:t>index.html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114800"/>
            <a:ext cx="1371600" cy="731520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Load SystemJS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114800"/>
            <a:ext cx="1371600" cy="731520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Load Import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371600" cy="731520"/>
          </a:xfrm>
          <a:prstGeom prst="roundRect">
            <a:avLst/>
          </a:prstGeom>
          <a:solidFill>
            <a:srgbClr val="4ECD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Register</a:t>
            </a:r>
          </a:p>
          <a:p>
            <a:r>
              <a:t>'angular-mfe'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286000"/>
            <a:ext cx="1371600" cy="731520"/>
          </a:xfrm>
          <a:prstGeom prst="roundRect">
            <a:avLst/>
          </a:prstGeom>
          <a:solidFill>
            <a:srgbClr val="4ECD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Register</a:t>
            </a:r>
          </a:p>
          <a:p>
            <a:r>
              <a:t>'eui-desktop'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1371600" cy="731520"/>
          </a:xfrm>
          <a:prstGeom prst="roundRect">
            <a:avLst/>
          </a:prstGeom>
          <a:solidFill>
            <a:srgbClr val="93C5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Register</a:t>
            </a:r>
          </a:p>
          <a:p>
            <a:r>
              <a:t>'embedded-*'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1371600" cy="73152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Start</a:t>
            </a:r>
          </a:p>
          <a:p>
            <a:r>
              <a:t>Single-SPA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1371600" cy="73152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Monitor</a:t>
            </a:r>
          </a:p>
          <a:p>
            <a:r>
              <a:t>Routes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600200.0" y="4114800"/>
            <a:ext cx="1828800.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29000.0" y="4114800"/>
            <a:ext cx="1828800.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600200.0" y="2286000"/>
            <a:ext cx="3657600.0" cy="25603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.0" y="2286000"/>
            <a:ext cx="5486400.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29000.0" y="2286000"/>
            <a:ext cx="3657600.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257800.0" y="2286000"/>
            <a:ext cx="1828800.0" cy="731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86600.0" y="3017520"/>
            <a:ext cx="0.0" cy="10972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Loading &amp; Bundle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1371600"/>
          </a:xfrm>
          <a:prstGeom prst="roundRect">
            <a:avLst/>
          </a:prstGeom>
          <a:solidFill>
            <a:srgbClr val="FF6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AngularJS Host</a:t>
            </a:r>
          </a:p>
          <a:p/>
          <a:p>
            <a:r>
              <a:t>- index.html</a:t>
            </a:r>
          </a:p>
          <a:p>
            <a:r>
              <a:t>- config.js</a:t>
            </a:r>
          </a:p>
          <a:p>
            <a:r>
              <a:t>- routes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286000" cy="1371600"/>
          </a:xfrm>
          <a:prstGeom prst="roundRect">
            <a:avLst/>
          </a:prstGeom>
          <a:solidFill>
            <a:srgbClr val="FFE0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SystemJS Layer</a:t>
            </a:r>
          </a:p>
          <a:p/>
          <a:p>
            <a:r>
              <a:t>- Import Map</a:t>
            </a:r>
          </a:p>
          <a:p>
            <a:r>
              <a:t>- Module Loader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286000" cy="1371600"/>
          </a:xfrm>
          <a:prstGeom prst="roundRect">
            <a:avLst/>
          </a:prstGeom>
          <a:solidFill>
            <a:srgbClr val="4ECD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Angular MFE</a:t>
            </a:r>
          </a:p>
          <a:p>
            <a:r>
              <a:t>:4200</a:t>
            </a:r>
          </a:p>
          <a:p/>
          <a:p>
            <a:r>
              <a:t>- Webpack</a:t>
            </a:r>
          </a:p>
          <a:p>
            <a:r>
              <a:t>- Bundle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286000" cy="1371600"/>
          </a:xfrm>
          <a:prstGeom prst="roundRect">
            <a:avLst/>
          </a:prstGeom>
          <a:solidFill>
            <a:srgbClr val="93C5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EUI MFE</a:t>
            </a:r>
          </a:p>
          <a:p>
            <a:r>
              <a:t>:4300</a:t>
            </a:r>
          </a:p>
          <a:p/>
          <a:p>
            <a:r>
              <a:t>- Webpack</a:t>
            </a:r>
          </a:p>
          <a:p>
            <a:r>
              <a:t>- Bundle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600200.0" y="1371600"/>
            <a:ext cx="2743200.0" cy="1371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343400.0" y="1371600"/>
            <a:ext cx="2743200.0" cy="1371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600200.0" y="2743200"/>
            <a:ext cx="2743200.0" cy="457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Integration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</a:p>
          <a:p>
            <a:r>
              <a:t>    1. User Opens Browser → Load index.html</a:t>
            </a:r>
          </a:p>
          <a:p>
            <a:r>
              <a:t>    2. Initialize AngularJS App</a:t>
            </a:r>
          </a:p>
          <a:p>
            <a:r>
              <a:t>    3. Load SystemJS &amp; Import Map</a:t>
            </a:r>
          </a:p>
          <a:p>
            <a:r>
              <a:t>    4. Load Single-SPA Config</a:t>
            </a:r>
          </a:p>
          <a:p>
            <a:r>
              <a:t>    5. Register All Micro-Frontends</a:t>
            </a:r>
          </a:p>
          <a:p>
            <a:r>
              <a:t>    6. Start Single-SPA</a:t>
            </a:r>
          </a:p>
          <a:p>
            <a:r>
              <a:t>    7. Monitor Route Changes</a:t>
            </a:r>
          </a:p>
          <a:p>
            <a:r>
              <a:t>    8. On Route Match → Load &amp; Mount MFE</a:t>
            </a:r>
          </a:p>
          <a:p>
            <a:r>
              <a:t>    9. User Interacts → Handle Events</a:t>
            </a:r>
          </a:p>
          <a:p>
            <a:r>
              <a:t>    10. On Navigation Away → Unmount MFE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 with MFE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/>
            </a:pPr>
          </a:p>
          <a:p>
            <a:r>
              <a:t>    angular-phonecat/</a:t>
            </a:r>
          </a:p>
          <a:p>
            <a:r>
              <a:t>    ├── AngularJS Host Application (app/)</a:t>
            </a:r>
          </a:p>
          <a:p>
            <a:r>
              <a:t>    │   ├── index.html (SystemJS, Import Map, Containers)</a:t>
            </a:r>
          </a:p>
          <a:p>
            <a:r>
              <a:t>    │   ├── app.module.js (Event listeners)</a:t>
            </a:r>
          </a:p>
          <a:p>
            <a:r>
              <a:t>    │   ├── app.config.js (Route definitions)</a:t>
            </a:r>
          </a:p>
          <a:p>
            <a:r>
              <a:t>    │   ├── microfrontend-config.js (Single-SPA registration)</a:t>
            </a:r>
          </a:p>
          <a:p>
            <a:r>
              <a:t>    │   └── phone-list/, phone-detail/ (Legacy components)</a:t>
            </a:r>
          </a:p>
          <a:p>
            <a:r>
              <a:t>    │</a:t>
            </a:r>
          </a:p>
          <a:p>
            <a:r>
              <a:t>    ├── Angular Micro-Frontend (angular-mfe/)</a:t>
            </a:r>
          </a:p>
          <a:p>
            <a:r>
              <a:t>    │   └── Port 4200: Webpack Dev Server</a:t>
            </a:r>
          </a:p>
          <a:p>
            <a:r>
              <a:t>    │       ├── main.single-spa.ts (Lifecycle functions)</a:t>
            </a:r>
          </a:p>
          <a:p>
            <a:r>
              <a:t>    │       └── app/ (Modern Angular components)</a:t>
            </a:r>
          </a:p>
          <a:p>
            <a:r>
              <a:t>    │</a:t>
            </a:r>
          </a:p>
          <a:p>
            <a:r>
              <a:t>    ├── EUI Desktop Micro-Frontend (eui-ng-microfrontend/)</a:t>
            </a:r>
          </a:p>
          <a:p>
            <a:r>
              <a:t>    │   └── Port 4300: Webpack Dev Server</a:t>
            </a:r>
          </a:p>
          <a:p>
            <a:r>
              <a:t>    │       ├── main.single-spa.ts (Lifecycle functions)</a:t>
            </a:r>
          </a:p>
          <a:p>
            <a:r>
              <a:t>    │       └── app/ (EUI components)</a:t>
            </a:r>
          </a:p>
          <a:p>
            <a:r>
              <a:t>    │</a:t>
            </a:r>
          </a:p>
          <a:p>
            <a:r>
              <a:t>    └── Browser Runtime</a:t>
            </a:r>
          </a:p>
          <a:p>
            <a:r>
              <a:t>        ├── SystemJS Import Map</a:t>
            </a:r>
          </a:p>
          <a:p>
            <a:r>
              <a:t>        ├── Single-SPA Orchestrator</a:t>
            </a:r>
          </a:p>
          <a:p>
            <a:r>
              <a:t>        └── DOM Containers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Integration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</a:p>
          <a:p>
            <a:r>
              <a:t>    • Module Loading: SystemJS - Dynamic loading of Angular bundles</a:t>
            </a:r>
          </a:p>
          <a:p>
            <a:r>
              <a:t>    • Module Resolution: Import Maps - URL mapping for module names</a:t>
            </a:r>
          </a:p>
          <a:p>
            <a:r>
              <a:t>    • Lifecycle Management: Single-SPA - Mount/unmount coordination</a:t>
            </a:r>
          </a:p>
          <a:p>
            <a:r>
              <a:t>    • Route Detection: Hash-based routing - AngularJS hash + Single-SPA activeWhen</a:t>
            </a:r>
          </a:p>
          <a:p>
            <a:r>
              <a:t>    • DOM Mounting: Container Elements - Isolated rendering spaces</a:t>
            </a:r>
          </a:p>
          <a:p>
            <a:r>
              <a:t>    • Communication: Custom Events - Cross-framework messaging</a:t>
            </a:r>
          </a:p>
          <a:p>
            <a:r>
              <a:t>    • State Sharing: Window object - Shared data between frameworks</a:t>
            </a:r>
          </a:p>
          <a:p>
            <a:r>
              <a:t>    • Asset Loading: Webpack Dev Server - Development-time asset serving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Micro-Frontend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1828800"/>
          </a:xfrm>
          <a:prstGeom prst="round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Gradual Migration</a:t>
            </a:r>
          </a:p>
          <a:p/>
          <a:p>
            <a:r>
              <a:t>Zero Downtime</a:t>
            </a:r>
          </a:p>
          <a:p>
            <a:r>
              <a:t>Incremental Updates</a:t>
            </a:r>
          </a:p>
          <a:p>
            <a:r>
              <a:t>Risk Reduction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286000" cy="1828800"/>
          </a:xfrm>
          <a:prstGeom prst="roundRect">
            <a:avLst/>
          </a:prstGeom>
          <a:solidFill>
            <a:srgbClr val="C8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Modern Development</a:t>
            </a:r>
          </a:p>
          <a:p/>
          <a:p>
            <a:r>
              <a:t>TypeScript</a:t>
            </a:r>
          </a:p>
          <a:p>
            <a:r>
              <a:t>Latest Angular</a:t>
            </a:r>
          </a:p>
          <a:p>
            <a:r>
              <a:t>Modern Tooling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286000" cy="1828800"/>
          </a:xfrm>
          <a:prstGeom prst="roundRect">
            <a:avLst/>
          </a:prstGeom>
          <a:solidFill>
            <a:srgbClr val="FF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Independent Deployment</a:t>
            </a:r>
          </a:p>
          <a:p/>
          <a:p>
            <a:r>
              <a:t>Separate Builds</a:t>
            </a:r>
          </a:p>
          <a:p>
            <a:r>
              <a:t>Version Control</a:t>
            </a:r>
          </a:p>
          <a:p>
            <a:r>
              <a:t>Team Autonomy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200400"/>
            <a:ext cx="2286000" cy="1828800"/>
          </a:xfrm>
          <a:prstGeom prst="roundRect">
            <a:avLst/>
          </a:prstGeom>
          <a:solidFill>
            <a:srgbClr val="FF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Technology Evolution</a:t>
            </a:r>
          </a:p>
          <a:p/>
          <a:p>
            <a:r>
              <a:t>Framework Updates</a:t>
            </a:r>
          </a:p>
          <a:p>
            <a:r>
              <a:t>Performance Isolation</a:t>
            </a:r>
          </a:p>
          <a:p>
            <a:r>
              <a:t>Future-Proof</a:t>
            </a:r>
          </a:p>
        </p:txBody>
      </p:sp>
      <p:sp>
        <p:nvSpPr>
          <p:cNvPr id="8" name="Oval 7"/>
          <p:cNvSpPr/>
          <p:nvPr/>
        </p:nvSpPr>
        <p:spPr>
          <a:xfrm>
            <a:off x="3886200" y="5303520"/>
            <a:ext cx="1371600" cy="548640"/>
          </a:xfrm>
          <a:prstGeom prst="ellipse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Micro-Frontend</a:t>
            </a:r>
          </a:p>
          <a:p>
            <a:r>
              <a:t>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</a:p>
          <a:p>
            <a:r>
              <a:t>    The Micro-Frontend architecture enables:</a:t>
            </a:r>
          </a:p>
          <a:p>
            <a:r>
              <a:t>    </a:t>
            </a:r>
          </a:p>
          <a:p>
            <a:r>
              <a:t>    ✓ Gradual migration from AngularJS to Angular</a:t>
            </a:r>
          </a:p>
          <a:p>
            <a:r>
              <a:t>    ✓ Zero downtime during migration</a:t>
            </a:r>
          </a:p>
          <a:p>
            <a:r>
              <a:t>    ✓ Modern development experience with TypeScript and latest Angular</a:t>
            </a:r>
          </a:p>
          <a:p>
            <a:r>
              <a:t>    ✓ Independent deployment of micro-frontends</a:t>
            </a:r>
          </a:p>
          <a:p>
            <a:r>
              <a:t>    ✓ Future-proof technology evolution</a:t>
            </a:r>
          </a:p>
          <a:p>
            <a:r>
              <a:t>    </a:t>
            </a:r>
          </a:p>
          <a:p>
            <a:r>
              <a:t>    Key Technologies:</a:t>
            </a:r>
          </a:p>
          <a:p>
            <a:r>
              <a:t>    • Single-SPA for orchestration</a:t>
            </a:r>
          </a:p>
          <a:p>
            <a:r>
              <a:t>    • SystemJS for module loading</a:t>
            </a:r>
          </a:p>
          <a:p>
            <a:r>
              <a:t>    • Webpack for bundling</a:t>
            </a:r>
          </a:p>
          <a:p>
            <a:r>
              <a:t>    • Custom events for communication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